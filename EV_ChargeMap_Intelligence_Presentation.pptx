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81" r:id="rId24"/>
    <p:sldId id="282" r:id="rId25"/>
    <p:sldId id="283" r:id="rId26"/>
    <p:sldId id="284" r:id="rId27"/>
    <p:sldId id="285" r:id="rId28"/>
    <p:sldId id="286" r:id="rId29"/>
    <p:sldId id="28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FD297-8C51-2E8B-1376-2581DC01B3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B2DACA-854D-DD9B-34BE-CD8CDBB7D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35CFC-7DBA-8795-B8AC-16758670B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9566-6D2F-4E86-8200-583C5523831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07BBD-A81B-4A79-7F26-7F16EC374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20739-E002-D8D4-6567-707B54E2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8C22-B155-472A-B46F-D2CCC8CA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8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9FA96-3AA9-B8BD-5380-F9144070F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91A5A-3DBB-2996-3D12-6C2EF48E1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BAA19-E2B1-0585-4792-67CC61D56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9566-6D2F-4E86-8200-583C5523831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55CC7-E2BC-4F02-2DAB-2F4D495F4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1BE94-4386-EE83-F898-A8618FE3D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8C22-B155-472A-B46F-D2CCC8CA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11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C299C-2F0E-AC1F-A38B-4F44AF74A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5E809-2491-73FF-3F6C-A3205DE81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56D0ED-4361-8A3B-2E2C-2DAA1F66A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9566-6D2F-4E86-8200-583C5523831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82969-1458-BACA-A0A4-2EA032736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F46E0-3757-9353-0A18-A1B2093D2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8C22-B155-472A-B46F-D2CCC8CA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81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B42C7-A2AA-8730-A779-B13B985B5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A3908-D6FD-67DB-F3EB-62656CA8B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6F367D-8FF8-EDA6-4A45-3A74B9332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3EF65-8731-8791-3259-1E2121F77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9566-6D2F-4E86-8200-583C5523831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A16A9-6756-9DD9-76AC-79D3CD6BC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0A7A9-73FD-C81B-D4F5-76685673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8C22-B155-472A-B46F-D2CCC8CA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707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DB64F-6267-94D8-004C-59E137CB0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90E54-E0E3-5197-A12F-740A92AFE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033B67-DD1F-2C8C-1263-A66B90D3F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4DF9B2-00F2-2729-060F-449A4ABC0A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CD2B32-C15C-50F3-543F-10CA01612B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E7B035-95FD-2D5F-BFCA-1DC49B181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9566-6D2F-4E86-8200-583C5523831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58165-02AE-3943-DC73-73206A76D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55E4D4-5B1E-7FAF-352F-43EF2BFE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8C22-B155-472A-B46F-D2CCC8CA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967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B27E8-1F7D-52A0-D07A-CEC679EDB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D88D10-8FFB-B218-AA3A-09C9E7837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9566-6D2F-4E86-8200-583C5523831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55EDEF-CF83-3986-1ABF-898C76501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85D772-CA20-6E89-0995-B159BEDE0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8C22-B155-472A-B46F-D2CCC8CA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218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C22E32-054D-4EA4-50BD-C4312DFFE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9566-6D2F-4E86-8200-583C5523831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7DC879-0619-A008-79D9-2B872BED1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FF1F9-3898-29E9-7410-378B246DC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8C22-B155-472A-B46F-D2CCC8CA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951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F43CF-F9A2-FA38-BE2D-D5902B054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2F5E0-8F11-C0F7-7D09-B10BE14C6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DA76E-6E9B-F262-4F7C-E0C044183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D6297-1084-8AD8-9408-B51F637D2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9566-6D2F-4E86-8200-583C5523831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F6001-08B3-B02E-67F4-FCF88B9F0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96D2F-B7C2-4774-63FB-AC8C786D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8C22-B155-472A-B46F-D2CCC8CA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887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E2809-BD71-B0A0-27B6-059832457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F518F7-3BC7-9AE9-774D-AE0E5A68D8E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7B755-CE76-16EB-5D91-2B02C6DDA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41FB2E-83A2-32F0-2F21-BE7D771DC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9566-6D2F-4E86-8200-583C5523831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47091-AB40-5C07-966E-216B7DE6B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D5E3BC-AD3E-0213-CDF7-E4D2B482F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8C22-B155-472A-B46F-D2CCC8CA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849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8EE80-CFEA-58C7-1F8B-4A15E1CF5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C0D7C3-E668-F6A2-71C3-78748B162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FCEB0-4C8E-54AC-1E9D-9E63F4351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9566-6D2F-4E86-8200-583C5523831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9C433-176A-77E5-CA8B-881D17FA7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85833-201E-9F8D-ECE2-9FD13777D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8C22-B155-472A-B46F-D2CCC8CA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631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B5A515-E407-5577-A893-0D40202A05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5FFB8C-C676-3EAB-2C8D-6E42D6C6BB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22D2FA-85B6-304F-0576-062847C85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A9566-6D2F-4E86-8200-583C5523831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6A7C1-9B7D-28F2-4C65-896C15D71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25E37-92FA-69C9-3467-425BF97C9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18C22-B155-472A-B46F-D2CCC8CA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05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44389A-7114-01B0-E79A-54FA49F43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4F3DE3-4BDA-4093-F091-5F7144BE5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9FB9D-4006-3EF9-9B8F-046069C08B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6A9566-6D2F-4E86-8200-583C5523831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CC7CF-88D7-2C87-D8A5-37F7DB772C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D5FD4-C134-1F9F-61A5-ECDB47B9D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718C22-B155-472A-B46F-D2CCC8CA9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231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83047-D7FB-B3CB-D828-6DF758231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054" y="-335560"/>
            <a:ext cx="4187972" cy="239296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7030A0"/>
                </a:solidFill>
              </a:rPr>
              <a:t>EV CHARGEMAP INTELLIGENCE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4EBB6E-8648-CBEC-25C3-5E0A60BAE5C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D156D0-6F56-710D-5D5C-12EB6E942A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4054" y="2340528"/>
            <a:ext cx="4264782" cy="3634402"/>
          </a:xfrm>
        </p:spPr>
        <p:txBody>
          <a:bodyPr/>
          <a:lstStyle/>
          <a:p>
            <a:r>
              <a:rPr lang="en-US" b="1" dirty="0"/>
              <a:t>Data-Driven Identification of High-Priority EV Charging Locations in India</a:t>
            </a:r>
            <a:endParaRPr lang="en-US" dirty="0"/>
          </a:p>
          <a:p>
            <a:r>
              <a:rPr lang="en-US" b="1" dirty="0"/>
              <a:t>Internship Project – Data Analytics</a:t>
            </a:r>
            <a:endParaRPr lang="en-US" dirty="0"/>
          </a:p>
          <a:p>
            <a:r>
              <a:rPr lang="en-US" b="1" dirty="0"/>
              <a:t>Submitted by:</a:t>
            </a:r>
            <a:br>
              <a:rPr lang="en-US" dirty="0"/>
            </a:br>
            <a:r>
              <a:rPr lang="en-US" b="1" dirty="0"/>
              <a:t>Mariyam Naseer</a:t>
            </a:r>
            <a:endParaRPr lang="en-US" dirty="0"/>
          </a:p>
          <a:p>
            <a:r>
              <a:rPr lang="en-US" b="1" dirty="0"/>
              <a:t>Company:</a:t>
            </a:r>
            <a:br>
              <a:rPr lang="en-US" dirty="0"/>
            </a:br>
            <a:r>
              <a:rPr lang="en-US" b="1" dirty="0"/>
              <a:t>Alpha Innovation Private Limited</a:t>
            </a:r>
            <a:endParaRPr lang="en-US" dirty="0"/>
          </a:p>
          <a:p>
            <a:r>
              <a:rPr lang="en-US" b="1" dirty="0"/>
              <a:t>Internship Duration:</a:t>
            </a:r>
            <a:br>
              <a:rPr lang="en-US" dirty="0"/>
            </a:br>
            <a:r>
              <a:rPr lang="en-US" b="1" dirty="0"/>
              <a:t>15 August 2026 – 15 October 2026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 descr="Image for representative purposes only">
            <a:extLst>
              <a:ext uri="{FF2B5EF4-FFF2-40B4-BE49-F238E27FC236}">
                <a16:creationId xmlns:a16="http://schemas.microsoft.com/office/drawing/2014/main" id="{2F2E9E9B-E111-4699-3E44-9AC172A9C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188" y="913045"/>
            <a:ext cx="6172200" cy="49805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400DD7-0F28-361F-3C13-D2D9B4E6CE93}"/>
              </a:ext>
            </a:extLst>
          </p:cNvPr>
          <p:cNvSpPr txBox="1"/>
          <p:nvPr/>
        </p:nvSpPr>
        <p:spPr>
          <a:xfrm>
            <a:off x="645014" y="6144178"/>
            <a:ext cx="59081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C0C0C0"/>
                </a:highlight>
              </a:rPr>
              <a:t>Excel | SQL | Python | Machine Learning | Power BI</a:t>
            </a:r>
          </a:p>
        </p:txBody>
      </p:sp>
    </p:spTree>
    <p:extLst>
      <p:ext uri="{BB962C8B-B14F-4D97-AF65-F5344CB8AC3E}">
        <p14:creationId xmlns:p14="http://schemas.microsoft.com/office/powerpoint/2010/main" val="3917274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Bar chart with solid fill">
            <a:extLst>
              <a:ext uri="{FF2B5EF4-FFF2-40B4-BE49-F238E27FC236}">
                <a16:creationId xmlns:a16="http://schemas.microsoft.com/office/drawing/2014/main" id="{1CDF7D9E-8A7E-4D0D-6BC3-1A4257FC5F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69498" y="2062564"/>
            <a:ext cx="530927" cy="530927"/>
          </a:xfrm>
          <a:prstGeom prst="rect">
            <a:avLst/>
          </a:prstGeom>
        </p:spPr>
      </p:pic>
      <p:pic>
        <p:nvPicPr>
          <p:cNvPr id="7" name="Graphic 6" descr="Internet with solid fill">
            <a:extLst>
              <a:ext uri="{FF2B5EF4-FFF2-40B4-BE49-F238E27FC236}">
                <a16:creationId xmlns:a16="http://schemas.microsoft.com/office/drawing/2014/main" id="{8EF32014-BF99-AE0D-82E1-CF2EDB3EEC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9434" y="2161114"/>
            <a:ext cx="705300" cy="530927"/>
          </a:xfrm>
          <a:prstGeom prst="rect">
            <a:avLst/>
          </a:prstGeom>
        </p:spPr>
      </p:pic>
      <p:pic>
        <p:nvPicPr>
          <p:cNvPr id="9" name="Graphic 8" descr="Lightbulb with solid fill">
            <a:extLst>
              <a:ext uri="{FF2B5EF4-FFF2-40B4-BE49-F238E27FC236}">
                <a16:creationId xmlns:a16="http://schemas.microsoft.com/office/drawing/2014/main" id="{313969E8-B662-FC74-4340-C8523D4061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14355" y="3816937"/>
            <a:ext cx="553832" cy="553832"/>
          </a:xfrm>
          <a:prstGeom prst="rect">
            <a:avLst/>
          </a:prstGeom>
        </p:spPr>
      </p:pic>
      <p:pic>
        <p:nvPicPr>
          <p:cNvPr id="11" name="Graphic 10" descr="Camera with solid fill">
            <a:extLst>
              <a:ext uri="{FF2B5EF4-FFF2-40B4-BE49-F238E27FC236}">
                <a16:creationId xmlns:a16="http://schemas.microsoft.com/office/drawing/2014/main" id="{E76CE801-8673-38DE-31DF-DA09C3B0E1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69499" y="3870660"/>
            <a:ext cx="446357" cy="446357"/>
          </a:xfrm>
          <a:prstGeom prst="rect">
            <a:avLst/>
          </a:prstGeom>
        </p:spPr>
      </p:pic>
      <p:pic>
        <p:nvPicPr>
          <p:cNvPr id="13" name="Graphic 12" descr="Bullseye with solid fill">
            <a:extLst>
              <a:ext uri="{FF2B5EF4-FFF2-40B4-BE49-F238E27FC236}">
                <a16:creationId xmlns:a16="http://schemas.microsoft.com/office/drawing/2014/main" id="{0688D6B0-1439-A90C-8901-335E3CAFAD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02574" y="4886046"/>
            <a:ext cx="470916" cy="47091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874571-E9AA-47C2-72CB-F24414DA2FF9}"/>
              </a:ext>
            </a:extLst>
          </p:cNvPr>
          <p:cNvSpPr txBox="1"/>
          <p:nvPr/>
        </p:nvSpPr>
        <p:spPr>
          <a:xfrm>
            <a:off x="1191237" y="2692042"/>
            <a:ext cx="2343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Technology &amp; Digital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56F20D-5581-DFC7-9369-CF5FE04EEC10}"/>
              </a:ext>
            </a:extLst>
          </p:cNvPr>
          <p:cNvSpPr txBox="1"/>
          <p:nvPr/>
        </p:nvSpPr>
        <p:spPr>
          <a:xfrm>
            <a:off x="6784597" y="2618008"/>
            <a:ext cx="1560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Analytics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4F16C6-226C-893F-1137-28866CE62612}"/>
              </a:ext>
            </a:extLst>
          </p:cNvPr>
          <p:cNvSpPr txBox="1"/>
          <p:nvPr/>
        </p:nvSpPr>
        <p:spPr>
          <a:xfrm>
            <a:off x="1739023" y="4483288"/>
            <a:ext cx="1189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Innovation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4A9FFF-6244-F7A3-D9B4-E47184F5310D}"/>
              </a:ext>
            </a:extLst>
          </p:cNvPr>
          <p:cNvSpPr txBox="1"/>
          <p:nvPr/>
        </p:nvSpPr>
        <p:spPr>
          <a:xfrm>
            <a:off x="6784597" y="4369516"/>
            <a:ext cx="1686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Digital Solutions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B555AA-C1B3-B45A-1C9C-390AB4084559}"/>
              </a:ext>
            </a:extLst>
          </p:cNvPr>
          <p:cNvSpPr txBox="1"/>
          <p:nvPr/>
        </p:nvSpPr>
        <p:spPr>
          <a:xfrm>
            <a:off x="4664279" y="5356962"/>
            <a:ext cx="1690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Practical Project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F220B56-ABD6-8317-3209-9BB9E7859F73}"/>
              </a:ext>
            </a:extLst>
          </p:cNvPr>
          <p:cNvSpPr/>
          <p:nvPr/>
        </p:nvSpPr>
        <p:spPr>
          <a:xfrm>
            <a:off x="2636645" y="279587"/>
            <a:ext cx="5131858" cy="1172033"/>
          </a:xfrm>
          <a:prstGeom prst="roundRect">
            <a:avLst>
              <a:gd name="adj" fmla="val 11592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7030A0"/>
                </a:solidFill>
              </a:rPr>
              <a:t>ALPHA INNOVATION PRIVATE LIMITED</a:t>
            </a:r>
          </a:p>
          <a:p>
            <a:pPr algn="ctr"/>
            <a:r>
              <a:rPr lang="en-US" dirty="0"/>
              <a:t>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72AF98-E28E-5AAB-47B6-761A3342AF11}"/>
              </a:ext>
            </a:extLst>
          </p:cNvPr>
          <p:cNvSpPr txBox="1"/>
          <p:nvPr/>
        </p:nvSpPr>
        <p:spPr>
          <a:xfrm>
            <a:off x="2793832" y="1602623"/>
            <a:ext cx="497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Company Overview | Data Analytics Internship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33D183-FC40-4EC7-47E9-0E9338946EB2}"/>
              </a:ext>
            </a:extLst>
          </p:cNvPr>
          <p:cNvSpPr txBox="1"/>
          <p:nvPr/>
        </p:nvSpPr>
        <p:spPr>
          <a:xfrm>
            <a:off x="679508" y="6093043"/>
            <a:ext cx="9977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ighlight>
                  <a:srgbClr val="808080"/>
                </a:highlight>
              </a:rPr>
              <a:t>The internship provides practical exposure to technology, data analytics, innovation and industry-oriented project development.</a:t>
            </a:r>
          </a:p>
        </p:txBody>
      </p:sp>
    </p:spTree>
    <p:extLst>
      <p:ext uri="{BB962C8B-B14F-4D97-AF65-F5344CB8AC3E}">
        <p14:creationId xmlns:p14="http://schemas.microsoft.com/office/powerpoint/2010/main" val="1168355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F26FA-4103-E7AA-D181-C5C8BA779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231" y="58724"/>
            <a:ext cx="10615569" cy="94795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INTERNSHIP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A829E-9F96-6B06-70BC-43FAC64F4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231" y="855677"/>
            <a:ext cx="8934275" cy="58471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dirty="0"/>
              <a:t>Organization</a:t>
            </a:r>
          </a:p>
          <a:p>
            <a:pPr marL="0" indent="0">
              <a:buNone/>
            </a:pPr>
            <a:r>
              <a:rPr lang="en-US" sz="1600" b="1" dirty="0"/>
              <a:t>Alpha Innovation Private Limited</a:t>
            </a:r>
          </a:p>
          <a:p>
            <a:pPr marL="0" indent="0">
              <a:buNone/>
            </a:pPr>
            <a:endParaRPr lang="en-US" sz="1600" b="1" dirty="0"/>
          </a:p>
          <a:p>
            <a:pPr marL="0" indent="0"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Domain</a:t>
            </a:r>
          </a:p>
          <a:p>
            <a:r>
              <a:rPr lang="en-US" sz="1600" dirty="0"/>
              <a:t>Data Analytics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Internship Duration</a:t>
            </a:r>
          </a:p>
          <a:p>
            <a:r>
              <a:rPr lang="en-US" sz="1600" dirty="0"/>
              <a:t>15 August 2026 – 15 October 2026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Role</a:t>
            </a:r>
          </a:p>
          <a:p>
            <a:r>
              <a:rPr lang="en-US" sz="1600" dirty="0"/>
              <a:t>Data Analytics Intern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Project</a:t>
            </a:r>
          </a:p>
          <a:p>
            <a:r>
              <a:rPr lang="en-US" sz="1600" dirty="0"/>
              <a:t>EV ChargeMap Intelligence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Primary Focus</a:t>
            </a:r>
          </a:p>
          <a:p>
            <a:r>
              <a:rPr lang="en-US" sz="1600" dirty="0"/>
              <a:t>EV Charging Infrastructure Analysis</a:t>
            </a:r>
          </a:p>
        </p:txBody>
      </p:sp>
    </p:spTree>
    <p:extLst>
      <p:ext uri="{BB962C8B-B14F-4D97-AF65-F5344CB8AC3E}">
        <p14:creationId xmlns:p14="http://schemas.microsoft.com/office/powerpoint/2010/main" val="2845487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3A55F-E9AD-4B19-CDC8-13B65C4F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3137F-E770-B183-8BB3-253ECD2E2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30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EV ChargeMap Intelligence</a:t>
            </a:r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Data-Driven Identification of High-Priority EV Charging Locations in India.</a:t>
            </a:r>
          </a:p>
          <a:p>
            <a:endParaRPr lang="en-US" sz="16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The project analyzes EV charging infrastructure using data cleaning, statistical analysis, machine learning and business intelligence techniques.</a:t>
            </a:r>
          </a:p>
          <a:p>
            <a:endParaRPr lang="en-US" sz="180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</a:rPr>
              <a:t>Core Question:</a:t>
            </a:r>
          </a:p>
          <a:p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Where should EV charging infrastructure be prioritized, and what data supports that decision?</a:t>
            </a:r>
          </a:p>
          <a:p>
            <a:endParaRPr lang="en-US" sz="180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accent3">
                    <a:lumMod val="50000"/>
                  </a:schemeClr>
                </a:solidFill>
              </a:rPr>
              <a:t>Analytical Pipeline:</a:t>
            </a:r>
          </a:p>
          <a:p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Data Collection → Data Cleaning → Analysis → Machine Learning → Priority Scoring → 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1932810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A6B7-FD77-C4E7-711E-60530CD22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111AB-BB62-60FB-3D8F-C5590F3DC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The rapid growth of electric mobility increases the need for reliable and accessible EV charging infrastructure.</a:t>
            </a:r>
          </a:p>
          <a:p>
            <a:endParaRPr lang="en-US" sz="180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However, charging infrastructure may not be evenly distributed across locations.</a:t>
            </a:r>
          </a:p>
          <a:p>
            <a:endParaRPr lang="en-US" sz="18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7030A0"/>
                </a:solidFill>
              </a:rPr>
              <a:t>Key Questions:</a:t>
            </a:r>
          </a:p>
          <a:p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 Where is charging infrastructure concentrated?</a:t>
            </a:r>
          </a:p>
          <a:p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 Which locations show infrastructure imbalance?</a:t>
            </a:r>
          </a:p>
          <a:p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 Which stations have unusually high charging capacity?</a:t>
            </a:r>
          </a:p>
          <a:p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 What operational patterns exist?</a:t>
            </a:r>
          </a:p>
          <a:p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How can data analytics support infrastructure prioritization?</a:t>
            </a:r>
          </a:p>
        </p:txBody>
      </p:sp>
    </p:spTree>
    <p:extLst>
      <p:ext uri="{BB962C8B-B14F-4D97-AF65-F5344CB8AC3E}">
        <p14:creationId xmlns:p14="http://schemas.microsoft.com/office/powerpoint/2010/main" val="14105852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88C6-5788-BA50-9607-0B5A31636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C5DEF-A234-3110-8C8E-2ABF687A1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1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Analyze EV charging infrastructure across India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2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Clean and standardize charging station data.</a:t>
            </a:r>
          </a:p>
          <a:p>
            <a:pPr marL="0" indent="0">
              <a:buNone/>
            </a:pP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3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.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Measure operational performance using key KPIs.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4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.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Detect unusual high-capacity charging stations.</a:t>
            </a:r>
          </a:p>
          <a:p>
            <a:pPr marL="0" indent="0"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5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Segment charging stations using K-Means clustering.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6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Develop a project-specific Station Priority Score.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7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Build an interactive Power BI dashboard for analytical insights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66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C52B7-A9C3-918F-EBF1-37D912FE6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BUSINESS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8A8A2-844C-97AB-90E2-113984E50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286" y="1367406"/>
            <a:ext cx="10435905" cy="51254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7030A0"/>
                </a:solidFill>
              </a:rPr>
              <a:t>Why EV Charging Infrastructure Matters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The transition toward electric mobility increases the need for accessible, reliable and appropriately distributed charging infrastructure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.</a:t>
            </a:r>
          </a:p>
          <a:p>
            <a:endParaRPr lang="en-US" sz="1800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7030A0"/>
                </a:solidFill>
              </a:rPr>
              <a:t>Key Business Requirements: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3">
                    <a:lumMod val="75000"/>
                  </a:schemeClr>
                </a:solidFill>
              </a:rPr>
              <a:t>• 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Accessible charging locations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• Reliable charging availability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• Appropriate charging capacity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• Balanced infrastructure distribution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• Data-driven expansion planning</a:t>
            </a:r>
          </a:p>
          <a:p>
            <a:endParaRPr lang="en-US" sz="1800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7030A0"/>
                </a:solidFill>
              </a:rPr>
              <a:t>Analytical Perspective:</a:t>
            </a:r>
            <a:endParaRPr lang="en-US" sz="1800" dirty="0">
              <a:solidFill>
                <a:schemeClr val="accent3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EV Adoption → Charging Demand → Infrastructure Requirements → Data Analysis → Priority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1568078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BFB7F-87F8-0B2F-56A5-00EAB2ADB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DA1B1-0565-4739-D6B7-4A167DCA2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600" dirty="0">
                <a:solidFill>
                  <a:schemeClr val="accent3">
                    <a:lumMod val="50000"/>
                  </a:schemeClr>
                </a:solidFill>
              </a:rPr>
              <a:t>Dataset 01 — EV Charging Stations</a:t>
            </a: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1,000 records</a:t>
            </a:r>
          </a:p>
          <a:p>
            <a:r>
              <a:rPr lang="en-US" sz="2600" dirty="0">
                <a:solidFill>
                  <a:schemeClr val="accent3">
                    <a:lumMod val="50000"/>
                  </a:schemeClr>
                </a:solidFill>
              </a:rPr>
              <a:t>Core infrastructure dataset containing station location, charging capacity, operational status and operator information.</a:t>
            </a:r>
          </a:p>
          <a:p>
            <a:endParaRPr lang="en-US" sz="260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600" dirty="0">
                <a:solidFill>
                  <a:schemeClr val="accent3">
                    <a:lumMod val="50000"/>
                  </a:schemeClr>
                </a:solidFill>
              </a:rPr>
              <a:t>Dataset 02 — Indian EV Sales</a:t>
            </a: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2015–2025</a:t>
            </a:r>
          </a:p>
          <a:p>
            <a:r>
              <a:rPr lang="en-US" sz="2600" dirty="0">
                <a:solidFill>
                  <a:schemeClr val="accent3">
                    <a:lumMod val="50000"/>
                  </a:schemeClr>
                </a:solidFill>
              </a:rPr>
              <a:t>Contains year, vehicle category, segment, sales quantity and EV penetration data.</a:t>
            </a:r>
          </a:p>
          <a:p>
            <a:endParaRPr lang="en-US" sz="260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600" dirty="0">
                <a:solidFill>
                  <a:schemeClr val="accent3">
                    <a:lumMod val="50000"/>
                  </a:schemeClr>
                </a:solidFill>
              </a:rPr>
              <a:t>Dataset 03 — India Cities Lat/</a:t>
            </a:r>
            <a:r>
              <a:rPr lang="en-US" sz="2600" dirty="0" err="1">
                <a:solidFill>
                  <a:schemeClr val="accent3">
                    <a:lumMod val="50000"/>
                  </a:schemeClr>
                </a:solidFill>
              </a:rPr>
              <a:t>Lng</a:t>
            </a:r>
            <a:endParaRPr lang="en-US" sz="26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188 cities</a:t>
            </a:r>
          </a:p>
          <a:p>
            <a:r>
              <a:rPr lang="en-US" sz="2600" dirty="0">
                <a:solidFill>
                  <a:schemeClr val="accent3">
                    <a:lumMod val="50000"/>
                  </a:schemeClr>
                </a:solidFill>
              </a:rPr>
              <a:t>Contains city, latitude, longitude, population and administrative information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96012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F07E1-9772-E40E-FFAB-957DEC47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6B9D9-8004-34AF-CD31-A236E1CC8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1. EV Charging Stations Dataset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Source: Project charging station dataset.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Purpose: Analyze station locations, charging capacity and operational status.</a:t>
            </a:r>
          </a:p>
          <a:p>
            <a:endParaRPr lang="en-US" b="1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2. Indian EV Sales Dataset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Source: Kaggle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Period: 2015–2025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Purpose: Understand national EV adoption and sales trends.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3. India Cities Lat/</a:t>
            </a:r>
            <a:r>
              <a:rPr lang="en-US" b="1" dirty="0" err="1">
                <a:solidFill>
                  <a:srgbClr val="7030A0"/>
                </a:solidFill>
              </a:rPr>
              <a:t>Lng</a:t>
            </a:r>
            <a:r>
              <a:rPr lang="en-US" b="1" dirty="0">
                <a:solidFill>
                  <a:srgbClr val="7030A0"/>
                </a:solidFill>
              </a:rPr>
              <a:t> Dataset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Source: Public city geographic dataset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Records: 188 cities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Purpose: Provide geographic and population context for city-level analysis.</a:t>
            </a:r>
          </a:p>
        </p:txBody>
      </p:sp>
    </p:spTree>
    <p:extLst>
      <p:ext uri="{BB962C8B-B14F-4D97-AF65-F5344CB8AC3E}">
        <p14:creationId xmlns:p14="http://schemas.microsoft.com/office/powerpoint/2010/main" val="4280982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ED061-32B7-09D6-53F9-0AFCBA91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063" y="96473"/>
            <a:ext cx="9782262" cy="111573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PROJECT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8C5B2-1854-DCAC-2FB7-AF6AB31FE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063" y="1212209"/>
            <a:ext cx="10605177" cy="53613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The project follows a structured data analytics workflow: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1. Data Collection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 Collected EV charging, EV sales and city geographic datasets.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2. Data Audit &amp; Cleaning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Checked missing values, duplicates, inconsistent state names and data quality.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3. Exploratory Data Analysis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Analyzed charging capacity, operational status, state-wise infrastructure and EV sales trends.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4. Statistical Analysis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Used mean, median, standard deviation and IQR to understand data distribution and anomalies.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5. Machine Learning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Applied K-Means clustering to identify groups of charging stations.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6. Priority Analysis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Developed a project-specific Station Priority Score using infrastructure and operational indicators.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7. Business Intelligence</a:t>
            </a:r>
          </a:p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  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Created an interactive Power BI dashboard for visual analysis and decision support.</a:t>
            </a:r>
          </a:p>
        </p:txBody>
      </p:sp>
    </p:spTree>
    <p:extLst>
      <p:ext uri="{BB962C8B-B14F-4D97-AF65-F5344CB8AC3E}">
        <p14:creationId xmlns:p14="http://schemas.microsoft.com/office/powerpoint/2010/main" val="1639744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B7082-AC10-E46D-3FC1-699BF02C0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231" y="155400"/>
            <a:ext cx="10615569" cy="105261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EXCEL WORKING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0F288-233A-0A60-198D-9E2F0F431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451" y="1208015"/>
            <a:ext cx="10981189" cy="54945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Excel was used as the initial data preparation and validation tool.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Key Activities: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• Data quality and duplicate checks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• Identification of missing and unknown values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• State name standardization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• Operational Flag creation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• Active Charging Points calculation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• PivotTable analysis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• KPI validation and visualization</a:t>
            </a:r>
          </a:p>
          <a:p>
            <a:pPr marL="0" indent="0">
              <a:buNone/>
            </a:pPr>
            <a:endParaRPr lang="en-US" sz="1600" b="1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Key Validated Results: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1,000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Charging Stations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2,364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 Total Charging Points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969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 Operational Stations</a:t>
            </a:r>
            <a:endParaRPr lang="en-US" sz="1400" b="1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96.9%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Operational Rate</a:t>
            </a:r>
          </a:p>
          <a:p>
            <a:pPr marL="0" indent="0">
              <a:buNone/>
            </a:pP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2,320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 Active Charging Points</a:t>
            </a:r>
          </a:p>
        </p:txBody>
      </p:sp>
    </p:spTree>
    <p:extLst>
      <p:ext uri="{BB962C8B-B14F-4D97-AF65-F5344CB8AC3E}">
        <p14:creationId xmlns:p14="http://schemas.microsoft.com/office/powerpoint/2010/main" val="2133520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29F45-A1AA-A0F1-4F7D-1367FA4CB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3181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SQL WORKING MODULE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FA76E0-CDC5-D6B7-12F9-EDBEA7D08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124124"/>
            <a:ext cx="4295164" cy="5176007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MySQL was used to query and validate the EV charging station dataset.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rgbClr val="7030A0"/>
                </a:solidFill>
              </a:rPr>
              <a:t>Key Activities: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Database and table creation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Dataset import and validation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KPI calculation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Status-wise analysis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Top charging station analysis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Data quality verification</a:t>
            </a:r>
          </a:p>
          <a:p>
            <a:endParaRPr lang="en-US" dirty="0"/>
          </a:p>
          <a:p>
            <a:r>
              <a:rPr lang="en-US" b="1" dirty="0">
                <a:solidFill>
                  <a:srgbClr val="7030A0"/>
                </a:solidFill>
              </a:rPr>
              <a:t>Key Results:</a:t>
            </a: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1,000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Stations</a:t>
            </a: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2,364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Charging Points</a:t>
            </a: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969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Operational Stations</a:t>
            </a:r>
          </a:p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2,320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Active Charging Points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E5D1A2C-D798-32BF-B95F-17CE0A12718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1" r="22241"/>
          <a:stretch>
            <a:fillRect/>
          </a:stretch>
        </p:blipFill>
        <p:spPr>
          <a:xfrm>
            <a:off x="6171501" y="1377938"/>
            <a:ext cx="5044580" cy="410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010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21702-9F6C-2B89-3B60-8402381A6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418" y="159392"/>
            <a:ext cx="10604382" cy="89762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7030A0"/>
                </a:solidFill>
              </a:rPr>
              <a:t>PYTHON WORKING ENVIRONMENT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1C543-B69C-C95C-B7F5-E41515EB5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009" y="1057013"/>
            <a:ext cx="10687573" cy="57045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Python was used for data analysis, statistical analysis, visualization and machine learning.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</a:rPr>
              <a:t>Tools &amp; Libraries: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Python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Pandas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NumPy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Matplotlib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Seaborn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Scikit-learn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Jupyter Notebook</a:t>
            </a:r>
          </a:p>
          <a:p>
            <a:pPr marL="0" indent="0">
              <a:buNone/>
            </a:pP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</a:rPr>
              <a:t>Major Python Tasks: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Data cleaning and transformation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Statistical analysis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Exploratory data visualization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Anomaly detection using IQR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K-Means clustering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Infrastructure gap analysis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Station Priority Score calculation</a:t>
            </a:r>
          </a:p>
        </p:txBody>
      </p:sp>
    </p:spTree>
    <p:extLst>
      <p:ext uri="{BB962C8B-B14F-4D97-AF65-F5344CB8AC3E}">
        <p14:creationId xmlns:p14="http://schemas.microsoft.com/office/powerpoint/2010/main" val="2563542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DF7D9-91A8-9917-5FF6-C9BB19654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5836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DATA AUDIT &amp; QUALITY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DEAC4-3BB1-1D93-9B15-28E59FC70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962"/>
            <a:ext cx="10713440" cy="5142453"/>
          </a:xfrm>
        </p:spPr>
        <p:txBody>
          <a:bodyPr>
            <a:noAutofit/>
          </a:bodyPr>
          <a:lstStyle/>
          <a:p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The EV charging station dataset was audited before analysis to improve data reliability.</a:t>
            </a:r>
          </a:p>
          <a:p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Key Quality Checks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•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Total records: 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1,000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• Duplicate station IDs: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 0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• Unknown cities: 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578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• Unknown states: 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6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• Unknown operators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: 975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• Latitude and longitude: Numeric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• Charging points: No blank or zero values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• Station status: 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</a:rPr>
              <a:t>5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operational categories</a:t>
            </a:r>
          </a:p>
          <a:p>
            <a:pPr marL="0" indent="0">
              <a:buNone/>
            </a:pP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7030A0"/>
                </a:solidFill>
              </a:rPr>
              <a:t>Data Quality Approach: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</a:rPr>
              <a:t>Identify Issues → Validate Records → Standardize Values → Preserve Reliable Data → Analyze</a:t>
            </a:r>
          </a:p>
        </p:txBody>
      </p:sp>
    </p:spTree>
    <p:extLst>
      <p:ext uri="{BB962C8B-B14F-4D97-AF65-F5344CB8AC3E}">
        <p14:creationId xmlns:p14="http://schemas.microsoft.com/office/powerpoint/2010/main" val="1047105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95CEB-5315-C2E1-D3BD-67D924756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176169"/>
            <a:ext cx="4636668" cy="1761687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DATA CLEANING &amp; FEATURE ENGINEERING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81AAB7C-EC3C-0E29-5BEF-B1BCC75FB52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6441" b="6441"/>
          <a:stretch/>
        </p:blipFill>
        <p:spPr>
          <a:xfrm>
            <a:off x="5476457" y="1384184"/>
            <a:ext cx="5722846" cy="447972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E5D5E-732D-4006-5ED7-92ACBDCEA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46915"/>
            <a:ext cx="4017437" cy="4278383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DATA CLEANING</a:t>
            </a:r>
          </a:p>
          <a:p>
            <a:r>
              <a:rPr lang="en-US" dirty="0"/>
              <a:t>•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Standardized state and city names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Checked duplicate station IDs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Validated latitude and longitude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Reviewed unknown values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Verified charging point data</a:t>
            </a:r>
          </a:p>
          <a:p>
            <a:endParaRPr lang="en-US" dirty="0"/>
          </a:p>
          <a:p>
            <a:r>
              <a:rPr lang="en-US" b="1" dirty="0">
                <a:solidFill>
                  <a:srgbClr val="7030A0"/>
                </a:solidFill>
              </a:rPr>
              <a:t>FEATURE ENGINEERING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Operational_Flag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Active_Charging_Points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Clean_State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</a:t>
            </a:r>
            <a:r>
              <a:rPr lang="en-US" dirty="0" err="1">
                <a:solidFill>
                  <a:schemeClr val="accent3">
                    <a:lumMod val="50000"/>
                  </a:schemeClr>
                </a:solidFill>
              </a:rPr>
              <a:t>Clean_City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6511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4A4CE-41F1-BEE0-E438-47A057183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KEY PERFORMANCE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D1CFC-A890-9382-6E14-0C6DEE662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921" y="1758513"/>
            <a:ext cx="10025543" cy="4004724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1,000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Charging Stations</a:t>
            </a:r>
          </a:p>
          <a:p>
            <a:r>
              <a:rPr lang="en-US" b="1" dirty="0">
                <a:solidFill>
                  <a:srgbClr val="7030A0"/>
                </a:solidFill>
              </a:rPr>
              <a:t>2,364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Total Charging Points</a:t>
            </a:r>
          </a:p>
          <a:p>
            <a:r>
              <a:rPr lang="en-US" b="1" dirty="0">
                <a:solidFill>
                  <a:srgbClr val="7030A0"/>
                </a:solidFill>
              </a:rPr>
              <a:t>969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Operational Stations</a:t>
            </a:r>
          </a:p>
          <a:p>
            <a:r>
              <a:rPr lang="en-US" b="1" dirty="0">
                <a:solidFill>
                  <a:srgbClr val="7030A0"/>
                </a:solidFill>
              </a:rPr>
              <a:t>96.9%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Operational Rate</a:t>
            </a:r>
          </a:p>
          <a:p>
            <a:r>
              <a:rPr lang="en-US" b="1" dirty="0">
                <a:solidFill>
                  <a:srgbClr val="7030A0"/>
                </a:solidFill>
              </a:rPr>
              <a:t>2,320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Active Charging Points</a:t>
            </a:r>
          </a:p>
          <a:p>
            <a:r>
              <a:rPr lang="en-US" b="1" dirty="0">
                <a:solidFill>
                  <a:srgbClr val="7030A0"/>
                </a:solidFill>
              </a:rPr>
              <a:t>98.1%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Active Charging Point Rate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FEE2B8-629A-45F1-FD05-E4824171CDA0}"/>
              </a:ext>
            </a:extLst>
          </p:cNvPr>
          <p:cNvSpPr txBox="1"/>
          <p:nvPr/>
        </p:nvSpPr>
        <p:spPr>
          <a:xfrm>
            <a:off x="838200" y="5846707"/>
            <a:ext cx="9799040" cy="646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KPIs provide a high-level view of the size, availability and operational performance of the charging infrastructure dataset.</a:t>
            </a:r>
          </a:p>
        </p:txBody>
      </p:sp>
    </p:spTree>
    <p:extLst>
      <p:ext uri="{BB962C8B-B14F-4D97-AF65-F5344CB8AC3E}">
        <p14:creationId xmlns:p14="http://schemas.microsoft.com/office/powerpoint/2010/main" val="246980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3B5E2-CF94-0DD3-EB86-A4C5C8500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832880" cy="1145097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EV SALES GROWTH ANALYSIS(2015-2025)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ECB207-1896-C53C-4AF3-4D2873BA4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778466"/>
            <a:ext cx="3935413" cy="4090522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7030A0"/>
                </a:solidFill>
              </a:rPr>
              <a:t>KEY INSIGHTS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High-speed e2W sales increased from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15,000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in 2015 to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 1,390,000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in 2025.</a:t>
            </a:r>
          </a:p>
          <a:p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EV sales show a strong upward trend over the period.</a:t>
            </a:r>
          </a:p>
          <a:p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The growth indicates increasing EV adoption in India.</a:t>
            </a:r>
          </a:p>
          <a:p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Rising EV adoption increases the importance of evaluating charging infrastructure.</a:t>
            </a:r>
          </a:p>
          <a:p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rgbClr val="7030A0"/>
                </a:solidFill>
              </a:rPr>
              <a:t>NOTE: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Sales data represents national-level EV adoption and is used as supporting demand context.</a:t>
            </a:r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314549E7-4F10-D186-4C8D-AC9DBF96699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9179" r="19179"/>
          <a:stretch/>
        </p:blipFill>
        <p:spPr>
          <a:xfrm>
            <a:off x="5609908" y="992187"/>
            <a:ext cx="6172200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73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5736F-2FE3-DD5E-3858-9A95FD013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026852" cy="1280160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EV PENETRATION TREND (2015-2025)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8B336E-AF19-AB61-7339-7FAA95B35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026852" cy="4475480"/>
          </a:xfrm>
        </p:spPr>
        <p:txBody>
          <a:bodyPr>
            <a:no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KEY INSIGHTS</a:t>
            </a:r>
          </a:p>
          <a:p>
            <a:endParaRPr lang="en-US" sz="1400" dirty="0"/>
          </a:p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• 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EV penetration for high-speed e2W increased from 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0.1% 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in 2015 to </a:t>
            </a:r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7.1% </a:t>
            </a: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in 2025.</a:t>
            </a:r>
          </a:p>
          <a:p>
            <a:endParaRPr lang="en-US" sz="14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The trend shows gradual growth in EV adoption over the period.</a:t>
            </a:r>
          </a:p>
          <a:p>
            <a:endParaRPr lang="en-US" sz="14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Increasing EV penetration provides useful demand-side context for charging infrastructure analysis.</a:t>
            </a:r>
          </a:p>
          <a:p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400" b="1" dirty="0">
                <a:solidFill>
                  <a:srgbClr val="7030A0"/>
                </a:solidFill>
              </a:rPr>
              <a:t>ANALYTICAL NOTE</a:t>
            </a:r>
          </a:p>
          <a:p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This dataset represents national-level EV trends and is not used as a direct state-level demand measure.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99EC1180-1399-B83D-9E3A-E6A10662715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21878" r="21878"/>
          <a:stretch/>
        </p:blipFill>
        <p:spPr>
          <a:xfrm>
            <a:off x="5974079" y="1262935"/>
            <a:ext cx="5378133" cy="458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561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005EC-3E66-1F5E-A05A-58D389CFE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793171" cy="92456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STATE-WISE CHARGING INFRASTRUCTURE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509068B-9390-CEEE-9EE6-8D3B63E0798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9430" r="9430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494F2-E7A7-5A87-BE1F-2EC564D626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1840" y="1656080"/>
            <a:ext cx="4020185" cy="421290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KEY INSIGHTS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Kerala charging stations with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 1,135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charging points. has 520 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Odisha has 370 charging stations with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1,041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 charging points.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The remaining states have substantially fewer charging points in this dataset.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The distribution indicates variation in charging infrastructure across states.</a:t>
            </a:r>
          </a:p>
          <a:p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rgbClr val="7030A0"/>
                </a:solidFill>
              </a:rPr>
              <a:t>ANALYTICAL NOTE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These figures represent the project dataset of 1,000 charging stations and do not represent the complete EV charging infrastructure of India.</a:t>
            </a:r>
          </a:p>
        </p:txBody>
      </p:sp>
    </p:spTree>
    <p:extLst>
      <p:ext uri="{BB962C8B-B14F-4D97-AF65-F5344CB8AC3E}">
        <p14:creationId xmlns:p14="http://schemas.microsoft.com/office/powerpoint/2010/main" val="2048738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1AA8-FDA5-D3BD-4C69-4DD46015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314960"/>
            <a:ext cx="3806509" cy="94488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CHARGING STATION STATUS ANALYSIS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857EB0F-883E-3357-5732-6C64C22D9E5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337" r="15337"/>
          <a:stretch/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654B1-ABC7-27A7-600A-ECDE61E22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6612" y="1503680"/>
            <a:ext cx="4101148" cy="435737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KEY INSIGHTS</a:t>
            </a:r>
          </a:p>
          <a:p>
            <a:r>
              <a:rPr lang="en-US" dirty="0"/>
              <a:t>• 969 stations are operational.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15 stations are not operational.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10 stations are temporarily unavailable.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5 stations are planned for future operation.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1 station is partly operational.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Operational stations account for 2,320 charging points.</a:t>
            </a:r>
          </a:p>
          <a:p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rgbClr val="7030A0"/>
                </a:solidFill>
              </a:rPr>
              <a:t>ANALYTICAL INSIGHT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The dataset shows a high operational rate, while a small number of stations require attention due to non-operational or temporary availability status.</a:t>
            </a:r>
          </a:p>
        </p:txBody>
      </p:sp>
    </p:spTree>
    <p:extLst>
      <p:ext uri="{BB962C8B-B14F-4D97-AF65-F5344CB8AC3E}">
        <p14:creationId xmlns:p14="http://schemas.microsoft.com/office/powerpoint/2010/main" val="26744736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D8401-AF85-E00E-4852-D97EAB228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CHARGING POINT DISTRIBUTION &amp; STATISTICAL ANALYSIS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EF80711-5616-0C55-E8E5-31E18B10DAE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2189" r="12189"/>
          <a:stretch/>
        </p:blipFill>
        <p:spPr>
          <a:xfrm>
            <a:off x="6929120" y="284051"/>
            <a:ext cx="3423919" cy="270355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E7E35F-F6BB-7005-835B-F2A83336F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KEY STATISTICS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Mean: 2.36 charging points per station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Median: 1 charging point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Standard Deviation: 18.96 charging point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Minimum: 1 charging point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• Maximum: 600 charging points</a:t>
            </a:r>
          </a:p>
          <a:p>
            <a:endParaRPr lang="en-US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rgbClr val="7030A0"/>
                </a:solidFill>
              </a:rPr>
              <a:t>KEY INSIGHT</a:t>
            </a:r>
          </a:p>
          <a:p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The large difference between the mean and median, along with the maximum value of 600, indicates a highly uneven distribution and the presence of high-capacity outliers.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D829EC-B2D6-8F58-ED34-B5907E0C17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9120" y="3165430"/>
            <a:ext cx="4270284" cy="2703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210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5D0BD-E9F8-5EC6-33A8-119F1712A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722052" cy="128016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ANOMALY DETECTION &amp; HIGH-CAPACITY STATIONS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4DC5D2-2CB8-894B-DA7A-847DEFF0E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41680" y="1838960"/>
            <a:ext cx="4030345" cy="4030028"/>
          </a:xfrm>
        </p:spPr>
        <p:txBody>
          <a:bodyPr>
            <a:normAutofit fontScale="92500" lnSpcReduction="20000"/>
          </a:bodyPr>
          <a:lstStyle/>
          <a:p>
            <a:r>
              <a:rPr lang="en-US" sz="1700" b="1" dirty="0">
                <a:solidFill>
                  <a:srgbClr val="7030A0"/>
                </a:solidFill>
              </a:rPr>
              <a:t>ANOMALY DETECTION</a:t>
            </a:r>
          </a:p>
          <a:p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•IQR method was used to identify unusually high charging capacities.</a:t>
            </a:r>
          </a:p>
          <a:p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• Q1 = 1 and Q3 = 2</a:t>
            </a:r>
          </a:p>
          <a:p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• Upper outlier limit = 3.5 charging points</a:t>
            </a:r>
          </a:p>
          <a:p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• </a:t>
            </a:r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87 </a:t>
            </a: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stations were identified as high-capacity anomalies.</a:t>
            </a:r>
          </a:p>
          <a:p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• These stations contain </a:t>
            </a:r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1,057 </a:t>
            </a: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charging points in total.</a:t>
            </a:r>
          </a:p>
          <a:p>
            <a:endParaRPr lang="en-US" sz="1700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1700" b="1" dirty="0">
                <a:solidFill>
                  <a:srgbClr val="7030A0"/>
                </a:solidFill>
              </a:rPr>
              <a:t>KEY FINDING</a:t>
            </a:r>
          </a:p>
          <a:p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One Odisha station has </a:t>
            </a:r>
            <a:r>
              <a:rPr lang="en-US" sz="1700" b="1" dirty="0">
                <a:solidFill>
                  <a:schemeClr val="tx2">
                    <a:lumMod val="50000"/>
                  </a:schemeClr>
                </a:solidFill>
              </a:rPr>
              <a:t>600</a:t>
            </a:r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 charging points and is the largest capacity outlier in the dataset.</a:t>
            </a:r>
          </a:p>
          <a:p>
            <a:r>
              <a:rPr lang="en-US" sz="1700" dirty="0">
                <a:solidFill>
                  <a:schemeClr val="tx2">
                    <a:lumMod val="50000"/>
                  </a:schemeClr>
                </a:solidFill>
              </a:rPr>
              <a:t>The record was verified and retained for analysis</a:t>
            </a:r>
            <a:r>
              <a:rPr lang="en-US" dirty="0"/>
              <a:t>.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4C0FF3BE-C0F2-3440-F287-CBA80173653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8339" r="18339"/>
          <a:stretch/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582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C823-ED05-B76C-AB8C-00E1F277F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50" y="212445"/>
            <a:ext cx="10587649" cy="1108355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K-MEANS CLUSTERING &amp; ELBOW METHOD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E9E7B58-66D7-1FBB-944A-2CFD5C8BC3D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89319" y="1066800"/>
            <a:ext cx="5364480" cy="3080422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9E8C52D-2EE7-8216-C608-135A17DE6E9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766150" y="1168400"/>
            <a:ext cx="4714240" cy="30809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DCC89D3-A98A-E805-CB70-A98919C4FD81}"/>
              </a:ext>
            </a:extLst>
          </p:cNvPr>
          <p:cNvSpPr txBox="1"/>
          <p:nvPr/>
        </p:nvSpPr>
        <p:spPr>
          <a:xfrm>
            <a:off x="568960" y="4480560"/>
            <a:ext cx="1078483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7030A0"/>
                </a:solidFill>
              </a:rPr>
              <a:t>METHOD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K-Means clustering was applied using: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• Latitude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• Longitude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• Charging Points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The features were standardized before clustering.</a:t>
            </a:r>
          </a:p>
          <a:p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400" b="1" dirty="0">
                <a:solidFill>
                  <a:srgbClr val="7030A0"/>
                </a:solidFill>
              </a:rPr>
              <a:t>KEY RESULT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The Elbow Method indicated K = 4 as a suitable clustering choice.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>Four clusters were created to identify groups of charging stations with similar geographic and capacity characteristics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01672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E344A-1D60-E61E-8B05-9B78868F0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761"/>
            <a:ext cx="9972040" cy="1036320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K-MEANS CLUSTER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7CD84-AA0C-53A6-CD0D-ED1BD1583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920" y="1402080"/>
            <a:ext cx="10723880" cy="477488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</a:rPr>
              <a:t>CLUSTER DISTRIBUTION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Cluster 0: 563 stations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Cluster 1: 374 stations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Cluster 2: 1 station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Cluster 3: 62 stations</a:t>
            </a:r>
          </a:p>
          <a:p>
            <a:endParaRPr lang="en-US" sz="140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</a:rPr>
              <a:t>KEY OBSERVATIONS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Cluster 0 represents the largest group of charging stations.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Cluster 1 forms the second-largest group with relatively lower average charging capacity.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Cluster 2 contains a single 600-point station, identifying the major high-capacity outlier.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• Cluster 3 represents a smaller geographic and infrastructure group.</a:t>
            </a:r>
          </a:p>
          <a:p>
            <a:pPr marL="0" indent="0">
              <a:buNone/>
            </a:pPr>
            <a:endParaRPr lang="en-US" sz="140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</a:rPr>
              <a:t>ANALYTICAL VALUE</a:t>
            </a:r>
          </a:p>
          <a:p>
            <a:r>
              <a:rPr lang="en-US" sz="1400" dirty="0">
                <a:solidFill>
                  <a:schemeClr val="accent3">
                    <a:lumMod val="50000"/>
                  </a:schemeClr>
                </a:solidFill>
              </a:rPr>
              <a:t>Clustering helps identify different patterns in station location and charging capacity that may not be visible from simple summary statistics.</a:t>
            </a:r>
          </a:p>
        </p:txBody>
      </p:sp>
    </p:spTree>
    <p:extLst>
      <p:ext uri="{BB962C8B-B14F-4D97-AF65-F5344CB8AC3E}">
        <p14:creationId xmlns:p14="http://schemas.microsoft.com/office/powerpoint/2010/main" val="2288013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F8BBE-E9E7-80F4-E376-05BC9740E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672"/>
            <a:ext cx="10165080" cy="106545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INFRASTRUCTURE GAP &amp; STATION PRIORITY SCORE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F3664B8-0B4B-370D-73FD-3C0B4791866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16280" y="1425183"/>
            <a:ext cx="5181600" cy="2367463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25B91C1-FCA3-22BC-9E06-CA22B38D30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49720" y="1740142"/>
            <a:ext cx="5181600" cy="17375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BCD67B-20F9-CA1C-1E83-D6D201511A69}"/>
              </a:ext>
            </a:extLst>
          </p:cNvPr>
          <p:cNvSpPr txBox="1"/>
          <p:nvPr/>
        </p:nvSpPr>
        <p:spPr>
          <a:xfrm>
            <a:off x="1066800" y="3792647"/>
            <a:ext cx="483108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7030A0"/>
                </a:solidFill>
              </a:rPr>
              <a:t>INFRASTRUCTURE GAP</a:t>
            </a:r>
          </a:p>
          <a:p>
            <a:r>
              <a:rPr lang="en-US" sz="1200" dirty="0">
                <a:solidFill>
                  <a:schemeClr val="accent3">
                    <a:lumMod val="50000"/>
                  </a:schemeClr>
                </a:solidFill>
              </a:rPr>
              <a:t>Infrastructure Gap = Station Share − Charging Point Share</a:t>
            </a:r>
          </a:p>
          <a:p>
            <a:r>
              <a:rPr lang="en-US" sz="1200" dirty="0">
                <a:solidFill>
                  <a:schemeClr val="accent3">
                    <a:lumMod val="50000"/>
                  </a:schemeClr>
                </a:solidFill>
              </a:rPr>
              <a:t>• Positive value: relatively more stations than charging points.</a:t>
            </a:r>
          </a:p>
          <a:p>
            <a:r>
              <a:rPr lang="en-US" sz="1200" dirty="0">
                <a:solidFill>
                  <a:schemeClr val="accent3">
                    <a:lumMod val="50000"/>
                  </a:schemeClr>
                </a:solidFill>
              </a:rPr>
              <a:t>• Negative value: relatively more charging points than stations.</a:t>
            </a:r>
          </a:p>
          <a:p>
            <a:endParaRPr lang="en-US" sz="1200" dirty="0">
              <a:solidFill>
                <a:schemeClr val="accent3">
                  <a:lumMod val="50000"/>
                </a:schemeClr>
              </a:solidFill>
            </a:endParaRPr>
          </a:p>
          <a:p>
            <a:r>
              <a:rPr lang="en-US" sz="1200" b="1" dirty="0">
                <a:solidFill>
                  <a:srgbClr val="7030A0"/>
                </a:solidFill>
              </a:rPr>
              <a:t>PRIORITY SCORE</a:t>
            </a:r>
          </a:p>
          <a:p>
            <a:r>
              <a:rPr lang="en-US" sz="1200" dirty="0">
                <a:solidFill>
                  <a:schemeClr val="accent3">
                    <a:lumMod val="50000"/>
                  </a:schemeClr>
                </a:solidFill>
              </a:rPr>
              <a:t>A project-specific score was developed using:</a:t>
            </a:r>
          </a:p>
          <a:p>
            <a:r>
              <a:rPr lang="en-US" sz="1200" dirty="0">
                <a:solidFill>
                  <a:schemeClr val="accent3">
                    <a:lumMod val="50000"/>
                  </a:schemeClr>
                </a:solidFill>
              </a:rPr>
              <a:t>• 40% Infrastructure Gap</a:t>
            </a:r>
          </a:p>
          <a:p>
            <a:r>
              <a:rPr lang="en-US" sz="1200" dirty="0">
                <a:solidFill>
                  <a:schemeClr val="accent3">
                    <a:lumMod val="50000"/>
                  </a:schemeClr>
                </a:solidFill>
              </a:rPr>
              <a:t>• 30% Operational Gap</a:t>
            </a:r>
          </a:p>
          <a:p>
            <a:r>
              <a:rPr lang="en-US" sz="1200" dirty="0">
                <a:solidFill>
                  <a:schemeClr val="accent3">
                    <a:lumMod val="50000"/>
                  </a:schemeClr>
                </a:solidFill>
              </a:rPr>
              <a:t>• 30% Infrastructure Availability Gap</a:t>
            </a:r>
          </a:p>
          <a:p>
            <a:r>
              <a:rPr lang="en-US" sz="1200" dirty="0">
                <a:solidFill>
                  <a:schemeClr val="accent3">
                    <a:lumMod val="50000"/>
                  </a:schemeClr>
                </a:solidFill>
              </a:rPr>
              <a:t>The score helps compare states using the selected infrastructure indicators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AA58B9-58F3-2CFA-E93C-281E6A0B8906}"/>
              </a:ext>
            </a:extLst>
          </p:cNvPr>
          <p:cNvSpPr txBox="1"/>
          <p:nvPr/>
        </p:nvSpPr>
        <p:spPr>
          <a:xfrm>
            <a:off x="365760" y="6299200"/>
            <a:ext cx="1169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The Station Priority Score is a project-specific analytical model, not an official government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3157086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30472-A044-600C-D587-A5E0A455F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2"/>
            <a:ext cx="10459720" cy="796334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POWER BI DASHBOARD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15BF89-1CD4-F0F9-B7D6-5448DB97120D}"/>
              </a:ext>
            </a:extLst>
          </p:cNvPr>
          <p:cNvSpPr txBox="1"/>
          <p:nvPr/>
        </p:nvSpPr>
        <p:spPr>
          <a:xfrm>
            <a:off x="838200" y="4632959"/>
            <a:ext cx="98297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Interactive dashboard developed to monitor EV charging infrastructure and support data-driven analysis.</a:t>
            </a:r>
          </a:p>
          <a:p>
            <a:r>
              <a:rPr lang="en-US" sz="1200" b="1" dirty="0">
                <a:solidFill>
                  <a:srgbClr val="7030A0"/>
                </a:solidFill>
              </a:rPr>
              <a:t>Dashboard Components:</a:t>
            </a:r>
          </a:p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• 5 KPI Cards</a:t>
            </a:r>
          </a:p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• EV sales trend</a:t>
            </a:r>
          </a:p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• Station status analysis</a:t>
            </a:r>
          </a:p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• State-wise charging infrastructure</a:t>
            </a:r>
          </a:p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• Station Priority Score</a:t>
            </a:r>
          </a:p>
          <a:p>
            <a:r>
              <a:rPr lang="en-US" sz="1200" dirty="0">
                <a:solidFill>
                  <a:schemeClr val="bg2">
                    <a:lumMod val="10000"/>
                  </a:schemeClr>
                </a:solidFill>
              </a:rPr>
              <a:t>• Status and cluster filters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EAA1622-F69B-CC17-A428-157D977F00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880" y="975360"/>
            <a:ext cx="6072706" cy="35700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23A5D23-AE79-4FF7-A64D-C81A1B923D4D}"/>
              </a:ext>
            </a:extLst>
          </p:cNvPr>
          <p:cNvSpPr txBox="1"/>
          <p:nvPr/>
        </p:nvSpPr>
        <p:spPr>
          <a:xfrm>
            <a:off x="396240" y="6274905"/>
            <a:ext cx="73405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10000"/>
                  </a:schemeClr>
                </a:solidFill>
              </a:rPr>
              <a:t>Power BI was used to convert analytical results into an interactive business intelligence dashboard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74739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A648A-E168-3F66-9BA8-30CFA5B02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279"/>
            <a:ext cx="10256520" cy="1005841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7030A0"/>
                </a:solidFill>
              </a:rPr>
              <a:t>KEY INSIGHTS, CHALLENGES &amp;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CE680-57EF-13A0-3E08-5DCC46F21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9040"/>
            <a:ext cx="10713720" cy="54863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</a:rPr>
              <a:t>KEY INSIGHTS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• 96.9% of stations in the dataset are operational.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• Kerala and Odisha contain the highest charging-point concentrations.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• 87 high-capacity anomalies were identified.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• K-Means clustering identified 4 station groups.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• The project-specific priority score supports comparative infrastructure analysis.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</a:rPr>
              <a:t>CHALLENGES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• Handling unknown and inconsistent location values.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• Standardizing state and city names.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• Managing extreme charging-capacity outliers.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• Integrating multiple analytical tools.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7030A0"/>
                </a:solidFill>
              </a:rPr>
              <a:t>LEARNING OUTCOMES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• Data cleaning and feature engineering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• SQL querying and validation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• Python-based statistical analysis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• Machine learning with K-Means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</a:rPr>
              <a:t>• Power BI dashboard development</a:t>
            </a:r>
          </a:p>
        </p:txBody>
      </p:sp>
    </p:spTree>
    <p:extLst>
      <p:ext uri="{BB962C8B-B14F-4D97-AF65-F5344CB8AC3E}">
        <p14:creationId xmlns:p14="http://schemas.microsoft.com/office/powerpoint/2010/main" val="14622965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2441-9F95-F50A-DD2B-BE591275F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CONCLUSION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52763-E888-E4DB-3168-87D172466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CONCLUSION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The EV ChargeMap Intelligence project demonstrates how data analytics can be used to examine EV charging infrastructure, identify infrastructure patterns and support comparative priority analysis.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The project combined Excel, SQL, Python, statistical analysis, machine learning and Power BI to transform raw data into meaningful analytical insights.</a:t>
            </a:r>
          </a:p>
          <a:p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FUTURE SCOPE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• Incorporate real-time charging station availability.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• Add EV traffic and charging-demand data.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• Improve city-level geographic matching.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• Include additional population and mobility indicators.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• Develop an advanced location-allocation model for future stations.</a:t>
            </a:r>
          </a:p>
          <a:p>
            <a:pPr marL="0" indent="0">
              <a:buNone/>
            </a:pPr>
            <a:endParaRPr lang="en-US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FINAL OUTCOME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A complete data analytics workflow was developed from data preparation to interactive business intelligence reporting.</a:t>
            </a:r>
          </a:p>
        </p:txBody>
      </p:sp>
    </p:spTree>
    <p:extLst>
      <p:ext uri="{BB962C8B-B14F-4D97-AF65-F5344CB8AC3E}">
        <p14:creationId xmlns:p14="http://schemas.microsoft.com/office/powerpoint/2010/main" val="13849109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D6BEF3-8AE5-BB5F-253E-1C75B5F5B7F7}"/>
              </a:ext>
            </a:extLst>
          </p:cNvPr>
          <p:cNvSpPr txBox="1"/>
          <p:nvPr/>
        </p:nvSpPr>
        <p:spPr>
          <a:xfrm>
            <a:off x="3586480" y="566728"/>
            <a:ext cx="3627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7030A0"/>
                </a:solidFill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EBC4DC-8829-6653-8EAC-C457751D0F1D}"/>
              </a:ext>
            </a:extLst>
          </p:cNvPr>
          <p:cNvSpPr txBox="1"/>
          <p:nvPr/>
        </p:nvSpPr>
        <p:spPr>
          <a:xfrm>
            <a:off x="2987040" y="1808480"/>
            <a:ext cx="534704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7030A0"/>
                </a:solidFill>
              </a:rPr>
              <a:t>EV ChargeMap Intelligence</a:t>
            </a:r>
          </a:p>
          <a:p>
            <a:pPr algn="ctr"/>
            <a:r>
              <a:rPr lang="en-US" i="1" dirty="0"/>
              <a:t>Data-Driven EV Charging Infrastructure Analysis – India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7D56E4-440E-2959-0BB6-2B2E1B78AD9A}"/>
              </a:ext>
            </a:extLst>
          </p:cNvPr>
          <p:cNvSpPr txBox="1"/>
          <p:nvPr/>
        </p:nvSpPr>
        <p:spPr>
          <a:xfrm>
            <a:off x="1402080" y="3566160"/>
            <a:ext cx="6070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Alpha Innovation Private Limited</a:t>
            </a:r>
            <a:br>
              <a:rPr lang="en-US" dirty="0"/>
            </a:br>
            <a:r>
              <a:rPr lang="en-US" b="1" dirty="0"/>
              <a:t>Data Analytics Internship | 15 August 2026 – 15 October 2026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715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2103</Words>
  <Application>Microsoft Office PowerPoint</Application>
  <PresentationFormat>Widescreen</PresentationFormat>
  <Paragraphs>360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Office Theme</vt:lpstr>
      <vt:lpstr>EV CHARGEMAP INTELLIGENCE</vt:lpstr>
      <vt:lpstr>PowerPoint Presentation</vt:lpstr>
      <vt:lpstr>INTERNSHIP DETAILS</vt:lpstr>
      <vt:lpstr>PROJECT OVERVIEW</vt:lpstr>
      <vt:lpstr>PROBLEM STATEMENT</vt:lpstr>
      <vt:lpstr>PROJECT OBJECTIVES</vt:lpstr>
      <vt:lpstr>BUSINESS CONTEXT</vt:lpstr>
      <vt:lpstr>DATASET OVERVIEW</vt:lpstr>
      <vt:lpstr>DATA SOURCES</vt:lpstr>
      <vt:lpstr>PROJECT METHODOLOGY</vt:lpstr>
      <vt:lpstr>EXCEL WORKING MODULE</vt:lpstr>
      <vt:lpstr>SQL WORKING MODULE</vt:lpstr>
      <vt:lpstr>PYTHON WORKING ENVIRONMENT</vt:lpstr>
      <vt:lpstr>DATA AUDIT &amp; QUALITY CHECK</vt:lpstr>
      <vt:lpstr>DATA CLEANING &amp; FEATURE ENGINEERING</vt:lpstr>
      <vt:lpstr>KEY PERFORMANCE INDICATORS</vt:lpstr>
      <vt:lpstr>EV SALES GROWTH ANALYSIS(2015-2025)</vt:lpstr>
      <vt:lpstr>EV PENETRATION TREND (2015-2025)</vt:lpstr>
      <vt:lpstr>STATE-WISE CHARGING INFRASTRUCTURE</vt:lpstr>
      <vt:lpstr>CHARGING STATION STATUS ANALYSIS</vt:lpstr>
      <vt:lpstr>CHARGING POINT DISTRIBUTION &amp; STATISTICAL ANALYSIS</vt:lpstr>
      <vt:lpstr>ANOMALY DETECTION &amp; HIGH-CAPACITY STATIONS</vt:lpstr>
      <vt:lpstr>K-MEANS CLUSTERING &amp; ELBOW METHOD</vt:lpstr>
      <vt:lpstr>K-MEANS CLUSTER ANALYSIS</vt:lpstr>
      <vt:lpstr>INFRASTRUCTURE GAP &amp; STATION PRIORITY SCORE</vt:lpstr>
      <vt:lpstr>POWER BI DASHBOARD</vt:lpstr>
      <vt:lpstr>KEY INSIGHTS, CHALLENGES &amp; LEARNING OUTCOMES</vt:lpstr>
      <vt:lpstr>CONCLUSION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Mariyam Naseer</dc:creator>
  <cp:lastModifiedBy>Mariyam Naseer</cp:lastModifiedBy>
  <cp:revision>8</cp:revision>
  <dcterms:created xsi:type="dcterms:W3CDTF">2026-09-30T17:06:36Z</dcterms:created>
  <dcterms:modified xsi:type="dcterms:W3CDTF">2026-09-30T23:31:54Z</dcterms:modified>
</cp:coreProperties>
</file>